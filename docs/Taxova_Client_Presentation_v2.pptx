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Taxova.ai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C4B6"/>
                </a:solidFill>
                <a:latin typeface="Calibri"/>
              </a:rPr>
              <a:t>WhatsApp-native GST compliance for Indian businesses &amp; 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Photo in. Filing-ready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A1B3A"/>
                </a:solidFill>
                <a:latin typeface="Calibri"/>
              </a:rPr>
              <a:t>Client presentation  ·  Product overview &amp; differentiators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The problem with how GST invoices are handled today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What Taxova.ai is — one-line product story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End-to-end journey (WhatsApp → CA → Filing)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Features for business clients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Features for Chartered Accountants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What other products don’t have (differentiators)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Compliance depth (ITC, GSTR-2B, drafts)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Pricing &amp; plans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How to pilot with your firm /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problem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3152" cy="19202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B3A"/>
                </a:solidFill>
                <a:latin typeface="Calibri"/>
              </a:rPr>
              <a:t>Scattered invoices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B7D"/>
                </a:solidFill>
                <a:latin typeface="Calibri"/>
              </a:rPr>
              <a:t>Clients send bills on WhatsApp, email, photos — CA re-enters everything manually.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9202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B3A"/>
                </a:solidFill>
                <a:latin typeface="Calibri"/>
              </a:rPr>
              <a:t>Late / incomplete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B7D"/>
                </a:solidFill>
                <a:latin typeface="Calibri"/>
              </a:rPr>
              <a:t>Month-end rush. Missing GSTINs, wrong totals, blocked ITC discovered too late.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73152" cy="19202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B3A"/>
                </a:solidFill>
                <a:latin typeface="Calibri"/>
              </a:rPr>
              <a:t>Tools don’t talk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06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B7D"/>
                </a:solidFill>
                <a:latin typeface="Calibri"/>
              </a:rPr>
              <a:t>GST software, Excel, WhatsApp, and the portal stay disconnected.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73152" cy="19202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A1B3A"/>
                </a:solidFill>
                <a:latin typeface="Calibri"/>
              </a:rPr>
              <a:t>Generic bots ≠ compliance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06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A6B7D"/>
                </a:solidFill>
                <a:latin typeface="Calibri"/>
              </a:rPr>
              <a:t>Chatbots answer FAQs. They don’t extract invoices or apply Sec 17(5) ITC rules.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Taxova.ai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EC4B6"/>
                </a:solidFill>
                <a:latin typeface="Calibri"/>
              </a:rPr>
              <a:t>WhatsApp is the front door. The CA dashboard is the control room.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2743200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2240280"/>
            <a:ext cx="822960" cy="822960"/>
          </a:xfrm>
          <a:prstGeom prst="ellipse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37744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B3A"/>
                </a:solidFill>
                <a:latin typeface="Calibri"/>
              </a:rPr>
              <a:t>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Client sends invoice photo/PDF on WhatsApp — no new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9202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920240"/>
            <a:ext cx="2743200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43400" y="2240280"/>
            <a:ext cx="822960" cy="822960"/>
          </a:xfrm>
          <a:prstGeom prst="ellipse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37744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B3A"/>
                </a:solidFill>
                <a:latin typeface="Calibri"/>
              </a:rPr>
              <a:t>Extract +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404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AI reads the bill; tax math &amp; Sec 17(5) ITC rules run automatically.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9202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920240"/>
            <a:ext cx="2743200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69480" y="2240280"/>
            <a:ext cx="822960" cy="822960"/>
          </a:xfrm>
          <a:prstGeom prst="ellipse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237744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B3A"/>
                </a:solidFill>
                <a:latin typeface="Calibri"/>
              </a:rPr>
              <a:t>Route smartly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404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Clean bills → client CONFIRM. Exceptions → CA review queue.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920240"/>
            <a:ext cx="27432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1920240"/>
            <a:ext cx="2743200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95560" y="2240280"/>
            <a:ext cx="822960" cy="822960"/>
          </a:xfrm>
          <a:prstGeom prst="ellipse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237744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B3A"/>
                </a:solidFill>
                <a:latin typeface="Calibri"/>
              </a:rPr>
              <a:t>Reconcile &amp;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840480"/>
            <a:ext cx="2377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Match GSTR-2B, nudge gaps, export GSTR-1 / 3B draft JSON.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For business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Send invoice photos or PDFs on WhatsApp — zero training, zero new app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Instant acknowledgement + structured summary (supplier, GSTIN, tax, totals)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Reply CONFIRM / REJECT to approve bills from the chat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Ask questions in plain language: ITC eligibility, pending invoices, monthly summary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Self-onboarding with GSTIN + WhatsApp number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Link your CA with a simple invite code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A2A3A"/>
                </a:solidFill>
                <a:latin typeface="Calibri"/>
              </a:rPr>
              <a:t>•  Month-end nudges when bills are missing or mismatched vs GSTR-2B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For Chartered Accountants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C4B6"/>
                </a:solidFill>
                <a:latin typeface="Calibri"/>
              </a:rPr>
              <a:t>Daily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Multi-client CA dashboard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HITL audit queue (exceptions first)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Edit / approve / reject / skip invoices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Bulk approve + keyboard shortcuts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Line-level ITC detail &amp; math checks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C4B6"/>
                </a:solidFill>
                <a:latin typeface="Calibri"/>
              </a:rPr>
              <a:t>Month close &amp; filing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Month-close: Review → 2B → Export → Nudge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Import GSTR-2B or live Pull 2B (OTP)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Books ↔ 2B reconcile (match / mismatch / missing)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GSTR-1 &amp; GSTR-3B draft JSON export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GSTIN lookup + portal filing 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other products don’t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801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WhatsApp as the product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Not a bolted-on alert. Clients work where they already chat — invoices become structured GST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AI extraction + Sec 17(5) ITC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Line-level blocked vs eligible ITC — not an OCR dump into Excel.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2801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28016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46304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Smart human-in-the-loop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192024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Clean bills → client confirm on WhatsApp. Risky bills → CA queue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5760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65760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404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GST agent with real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Answers grounded in this client’s invoices + searchable GST rules — not a generic chatbot.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65760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65760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8404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Live GSTR-2B + books reconcile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2976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File import or portal OTP pull; match / mismatch / missing; WhatsApp nudges for gaps.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65760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3657600"/>
            <a:ext cx="73152" cy="2148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9" y="38404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B3A"/>
                </a:solidFill>
                <a:latin typeface="Calibri"/>
              </a:rPr>
              <a:t>One loop to filing drafts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4297680"/>
            <a:ext cx="3337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B7D"/>
                </a:solidFill>
                <a:latin typeface="Calibri"/>
              </a:rPr>
              <a:t>Capture → ITC/2B gate → CA approve → GSTR-1 / 3B draft JSON — one product.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Taxova vs typical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291840" cy="50292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4416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40" y="1234440"/>
            <a:ext cx="2743200" cy="50292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22192" y="134416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GST desktop /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234440"/>
            <a:ext cx="2560320" cy="50292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34416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WhatsApp FAQ bots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234440"/>
            <a:ext cx="256032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34416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Taxova.ai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37360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90195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Invoice capture from client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1737360"/>
            <a:ext cx="2743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2" y="190195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37360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90195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Weak / manual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737360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190195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photo/PDF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59152"/>
            <a:ext cx="329184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52374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Structured extraction + tax math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2359152"/>
            <a:ext cx="274320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22192" y="252374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Manual entry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359152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2523744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359152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523744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980944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3145536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Sec 17(5) line-level ITC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40" y="2980944"/>
            <a:ext cx="2743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22192" y="3145536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Partial / manual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980944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3145536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2980944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25712" y="3145536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rules engine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02736"/>
            <a:ext cx="329184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7673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Exception routing (HITL)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40" y="3602736"/>
            <a:ext cx="274320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22192" y="3767328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All bills equal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602736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376732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3602736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376732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smart queue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24528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389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GSTR-2B reconcile + OTP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49040" y="4224528"/>
            <a:ext cx="2743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22192" y="43891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Separate workflow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224528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65392" y="43891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4224528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25712" y="438912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in product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846320"/>
            <a:ext cx="329184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5010912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CA multi-client month-close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49040" y="4846320"/>
            <a:ext cx="274320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22192" y="501091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Per-client software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4846320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65392" y="501091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4846320"/>
            <a:ext cx="2560320" cy="62179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25712" y="5010912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 — practice view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468112"/>
            <a:ext cx="3291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5632704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Client CONFIRM on WhatsApp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49040" y="5468112"/>
            <a:ext cx="2743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22192" y="563270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Email / portal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5468112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65392" y="5632704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A2A3A"/>
                </a:solidFill>
                <a:latin typeface="Calibri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5468112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25712" y="5632704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EC4B6"/>
                </a:solidFill>
                <a:latin typeface="Calibri"/>
              </a:rPr>
              <a:t>Yes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Compliance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Deterministic ITC rules under Sec 17(5) — food, vehicles, club, personal, gifts, works contract, and more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Line-item evaluation using description + HSN/SAC (not only bill header)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Tax calculation verification (taxable × rate vs CGST/SGST/IGST)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GSTR-2B import (JSON/CSV) or live Pull 2B via taxpayer OTP session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Reconcile books vs 2B: matched, amount/date mismatch, missing in 2B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Draft GSTR-1 (B2B / B2CS / HSN-style) and GSTR-3B JSON from approved invoices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A2A3A"/>
                </a:solidFill>
                <a:latin typeface="Calibri"/>
              </a:rPr>
              <a:t>•  GSTIN portal profile, filing history track, and supplier name mismatch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D"/>
                </a:solidFill>
                <a:latin typeface="Calibri"/>
              </a:rPr>
              <a:t>Note: Exports are filing-prep drafts — CA reviews before portal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One month-close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21031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10312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B3A"/>
                </a:solidFill>
                <a:latin typeface="Calibri"/>
              </a:rPr>
              <a:t>WhatsApp invoices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Clients send bills all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200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2011680"/>
            <a:ext cx="21031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79" y="2011680"/>
            <a:ext cx="210312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19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B3A"/>
                </a:solidFill>
                <a:latin typeface="Calibri"/>
              </a:rPr>
              <a:t>AI + ITC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Extract, math-check, 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3200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011680"/>
            <a:ext cx="21031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2011680"/>
            <a:ext cx="210312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B3A"/>
                </a:solidFill>
                <a:latin typeface="Calibri"/>
              </a:rPr>
              <a:t>Client / CA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CONFIRM or exception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200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19" y="2011680"/>
            <a:ext cx="21031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19" y="2011680"/>
            <a:ext cx="210312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B3A"/>
                </a:solidFill>
                <a:latin typeface="Calibri"/>
              </a:rPr>
              <a:t>GSTR-2B reconcile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Import or OTP pull +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79" y="32004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C4B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2011680"/>
            <a:ext cx="210312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2011680"/>
            <a:ext cx="2103120" cy="914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B3A"/>
                </a:solidFill>
                <a:latin typeface="Calibri"/>
              </a:rPr>
              <a:t>Export &amp; nudge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566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B7D"/>
                </a:solidFill>
                <a:latin typeface="Calibri"/>
              </a:rPr>
              <a:t>GSTR drafts + WhatsApp nudges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Pricing &amp;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B7D"/>
                </a:solidFill>
                <a:latin typeface="Calibri"/>
              </a:rPr>
              <a:t>Indicative pricing for India (customise before client send-out)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7033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3703320" cy="109728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A1B3A"/>
                </a:solidFill>
                <a:latin typeface="Calibri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C4B6"/>
                </a:solidFill>
                <a:latin typeface="Calibri"/>
              </a:rPr>
              <a:t>₹1,999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D"/>
                </a:solidFill>
                <a:latin typeface="Calibri"/>
              </a:rPr>
              <a:t>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A3A"/>
                </a:solidFill>
                <a:latin typeface="Calibri"/>
              </a:rPr>
              <a:t>For a single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1 GSTIN / WhatsApp client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Invoice photo &amp; PDF capture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AI extraction + ITC checks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Client CONFIRM / REJECT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Basic CA dashboard access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Email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508760"/>
            <a:ext cx="37033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508760"/>
            <a:ext cx="3703320" cy="10972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91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C4B6"/>
                </a:solidFill>
                <a:latin typeface="Calibri"/>
              </a:rPr>
              <a:t>RECOMMENDED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65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A1B3A"/>
                </a:solidFill>
                <a:latin typeface="Calibri"/>
              </a:rPr>
              <a:t>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77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C4B6"/>
                </a:solidFill>
                <a:latin typeface="Calibri"/>
              </a:rPr>
              <a:t>₹7,999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88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D"/>
                </a:solidFill>
                <a:latin typeface="Calibri"/>
              </a:rPr>
              <a:t>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63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A3A"/>
                </a:solidFill>
                <a:latin typeface="Calibri"/>
              </a:rPr>
              <a:t>For CA firms (most popular)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747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Up to 25 client GSTINs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Multi-client CA dashboard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HITL audit queue + bulk actions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GSTR-2B import / OTP pull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GSTR-1 &amp; 3B draft exports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WhatsApp month-end nudges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Priority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508760"/>
            <a:ext cx="3703320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508760"/>
            <a:ext cx="3703320" cy="109728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A1B3A"/>
                </a:solidFill>
                <a:latin typeface="Calibri"/>
              </a:rPr>
              <a:t>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2148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C4B6"/>
                </a:solidFill>
                <a:latin typeface="Calibri"/>
              </a:rPr>
              <a:t>₹14,999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2560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B7D"/>
                </a:solidFill>
                <a:latin typeface="Calibri"/>
              </a:rPr>
              <a:t>/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2834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2A3A"/>
                </a:solidFill>
                <a:latin typeface="Calibri"/>
              </a:rPr>
              <a:t>For growing practices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199" y="324612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Up to 100 client GSTINs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Everything in Practice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GSTIN portal lookup &amp; filing track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Dedicated onboarding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Custom SLA options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A3A"/>
                </a:solidFill>
                <a:latin typeface="Calibri"/>
              </a:rPr>
              <a:t>•  Quarterly product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Pricing notes &amp;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C4B6"/>
                </a:solidFill>
                <a:latin typeface="Calibri"/>
              </a:rPr>
              <a:t>Commercial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A"/>
                </a:solidFill>
                <a:latin typeface="Calibri"/>
              </a:rPr>
              <a:t>•  Annual billing: ~2 months free (pay for 10)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A"/>
                </a:solidFill>
                <a:latin typeface="Calibri"/>
              </a:rPr>
              <a:t>•  Pilot: 30 days for 3–5 clients (setup fee optional)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A"/>
                </a:solidFill>
                <a:latin typeface="Calibri"/>
              </a:rPr>
              <a:t>•  Enterprise / 100+ GSTINs: custom quote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A"/>
                </a:solidFill>
                <a:latin typeface="Calibri"/>
              </a:rPr>
              <a:t>•  WhatsApp Meta conversation fees may apply separately at scale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A"/>
                </a:solidFill>
                <a:latin typeface="Calibri"/>
              </a:rPr>
              <a:t>•  Prices exclude GST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2588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C4B6"/>
                </a:solidFill>
                <a:latin typeface="Calibri"/>
              </a:rPr>
              <a:t>Why it pays for itself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A"/>
                </a:solidFill>
                <a:latin typeface="Calibri"/>
              </a:rPr>
              <a:t>•  Saves hours of manual invoice typing per client / month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A"/>
                </a:solidFill>
                <a:latin typeface="Calibri"/>
              </a:rPr>
              <a:t>•  Fewer missed bills at month-end (WhatsApp capture)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A"/>
                </a:solidFill>
                <a:latin typeface="Calibri"/>
              </a:rPr>
              <a:t>•  Catches blocked ITC &amp; math errors before filing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A"/>
                </a:solidFill>
                <a:latin typeface="Calibri"/>
              </a:rPr>
              <a:t>•  Faster 2B reconcile → cleaner GSTR drafts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2A3A"/>
                </a:solidFill>
                <a:latin typeface="Calibri"/>
              </a:rPr>
              <a:t>•  One CA can handle more clients without more 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Suggested pilot with your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Week 1: Connect WhatsApp number + CA dashboard access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Week 1: Onboard 2–5 clients; assign CA invite codes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Week 2: Process real invoices over WhatsApp; measure extraction accuracy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Week 2: Run one month-close — Pull/Import 2B, reconcile, export drafts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Week 3: Review time saved vs manual entry; refine HITL rules with your team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A2A3A"/>
                </a:solidFill>
                <a:latin typeface="Calibri"/>
              </a:rPr>
              <a:t>•  Success metrics: hours saved per client, % bills auto-routed, 2B match rate, CA satisfaction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B7D"/>
                </a:solidFill>
                <a:latin typeface="Calibri"/>
              </a:rPr>
              <a:t>Taxova.ai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B7D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Let’s make GST filing WhatsApp-simple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EC4B6"/>
                </a:solidFill>
                <a:latin typeface="Calibri"/>
              </a:rPr>
              <a:t>Taxova.ai — Photo in. Filing-ready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Next step: schedule a live demo (WhatsApp simulator + CA dashboard).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72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B3A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